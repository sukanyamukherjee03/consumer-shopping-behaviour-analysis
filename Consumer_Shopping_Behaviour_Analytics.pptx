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11.xml" ContentType="application/vnd.openxmlformats-officedocument.presentationml.notesSlide+xml"/>
  <Override PartName="/ppt/charts/chart3.xml" ContentType="application/vnd.openxmlformats-officedocument.drawingml.chart+xml"/>
  <Override PartName="/ppt/notesSlides/notesSlide12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2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6" r:id="rId17"/>
    <p:sldId id="271" r:id="rId18"/>
    <p:sldId id="272" r:id="rId19"/>
    <p:sldId id="273" r:id="rId20"/>
    <p:sldId id="274" r:id="rId21"/>
    <p:sldId id="275" r:id="rId22"/>
  </p:sldIdLst>
  <p:sldSz cx="9144000" cy="5143500" type="screen16x9"/>
  <p:notesSz cx="51435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93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76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D1B3E"/>
                </a:solidFill>
                <a:latin typeface="Arial"/>
              </a:rPr>
              <a:t>Q1 — Revenue by Gender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(USD)</c:v>
                </c:pt>
              </c:strCache>
            </c:strRef>
          </c:tx>
          <c:spPr>
            <a:solidFill>
              <a:srgbClr val="0D1B3E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F7F8-49AB-8E99-2DC475B121A4}"/>
              </c:ext>
            </c:extLst>
          </c:dPt>
          <c:dPt>
            <c:idx val="1"/>
            <c:invertIfNegative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7F8-49AB-8E99-2DC475B121A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157890</c:v>
                </c:pt>
                <c:pt idx="1">
                  <c:v>75191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F7F8-49AB-8E99-2DC475B121A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3E"/>
                </a:solidFill>
                <a:latin typeface="Arial"/>
              </a:rPr>
              <a:t>Q10 — Revenue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(USD)</c:v>
                </c:pt>
              </c:strCache>
            </c:strRef>
          </c:tx>
          <c:spPr>
            <a:solidFill>
              <a:srgbClr val="1A56DB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C1C4-4603-9841-2E10466831BE}"/>
              </c:ext>
            </c:extLst>
          </c:dPt>
          <c:dPt>
            <c:idx val="1"/>
            <c:invertIfNegative val="0"/>
            <c:bubble3D val="0"/>
            <c:spPr>
              <a:solidFill>
                <a:srgbClr val="3A70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C1C4-4603-9841-2E10466831BE}"/>
              </c:ext>
            </c:extLst>
          </c:dPt>
          <c:dPt>
            <c:idx val="2"/>
            <c:invertIfNegative val="0"/>
            <c:bubble3D val="0"/>
            <c:spPr>
              <a:solidFill>
                <a:srgbClr val="5B8B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C1C4-4603-9841-2E10466831BE}"/>
              </c:ext>
            </c:extLst>
          </c:dPt>
          <c:dPt>
            <c:idx val="3"/>
            <c:invertIfNegative val="0"/>
            <c:bubble3D val="0"/>
            <c:spPr>
              <a:solidFill>
                <a:srgbClr val="8AAE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C1C4-4603-9841-2E10466831B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1C4-4603-9841-2E10466831B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D1B3E"/>
                </a:solidFill>
                <a:latin typeface="Arial"/>
              </a:rPr>
              <a:t>Q5 — Subscription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 Split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D1B3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EEC-48AC-BE71-EC3CD93FC69B}"/>
              </c:ext>
            </c:extLst>
          </c:dPt>
          <c:dPt>
            <c:idx val="1"/>
            <c:bubble3D val="0"/>
            <c:spPr>
              <a:solidFill>
                <a:srgbClr val="1A56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EEC-48AC-BE71-EC3CD93FC69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EEC-48AC-BE71-EC3CD93FC69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EEC-48AC-BE71-EC3CD93FC69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Non-Subscriber</c:v>
                </c:pt>
                <c:pt idx="1">
                  <c:v>Subscriber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3EEC-48AC-BE71-EC3CD93FC6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3E"/>
                </a:solidFill>
                <a:latin typeface="Arial"/>
              </a:rPr>
              <a:t>Q3 — Top 5 Products by Avg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0A7A5A"/>
            </a:solidFill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3.86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0945403841565257"/>
                      <c:h val="9.725138524351122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2-D390-4C0B-8F41-43CAC8BF1D1C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dirty="0"/>
                      <a:t>3.84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92373538534956"/>
                      <c:h val="9.725138524351122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3-D390-4C0B-8F41-43CAC8BF1D1C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dirty="0"/>
                      <a:t>3.82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92373538534956"/>
                      <c:h val="9.725138524351122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4-D390-4C0B-8F41-43CAC8BF1D1C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dirty="0"/>
                      <a:t>3.80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9.6827775789389961E-2"/>
                      <c:h val="9.725138524351122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5-D390-4C0B-8F41-43CAC8BF1D1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dirty="0"/>
                      <a:t>3.78</a:t>
                    </a:r>
                  </a:p>
                </c:rich>
              </c:tx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0.11892373538534956"/>
                      <c:h val="9.7251385243511221E-2"/>
                    </c:manualLayout>
                  </c15:layout>
                  <c15:showDataLabelsRange val="0"/>
                </c:ext>
                <c:ext xmlns:c16="http://schemas.microsoft.com/office/drawing/2014/chart" uri="{C3380CC4-5D6E-409C-BE32-E72D297353CC}">
                  <c16:uniqueId val="{00000001-D390-4C0B-8F41-43CAC8BF1D1C}"/>
                </c:ext>
              </c:extLst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390-4C0B-8F41-43CAC8BF1D1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3.7"/>
        </c:scaling>
        <c:delete val="0"/>
        <c:axPos val="b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solidFill>
        <a:srgbClr val="D9E4F0"/>
      </a:solidFill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3E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3E"/>
                </a:solidFill>
                <a:latin typeface="Arial"/>
              </a:rPr>
              <a:t>Q6 — Top 5 Products by Discount Rate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C41E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E2A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</c:v>
                </c:pt>
                <c:pt idx="2">
                  <c:v>49</c:v>
                </c:pt>
                <c:pt idx="3">
                  <c:v>48</c:v>
                </c:pt>
                <c:pt idx="4">
                  <c:v>47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EBD-4F41-B450-3D799F1F7C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9E4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solidFill>
        <a:srgbClr val="D9E4F0"/>
      </a:solidFill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27792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79BE-049D-43CA-8D90-71A35AADF5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51A514-72C1-3F59-6DB6-4E6F9FC41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DA7FC9-5C0D-39DD-1CDF-28156B8E8EC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4DE3F2-0144-72B5-F6E8-970B94B3714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3149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3B780E-D7F3-5707-F522-3063A8C6FA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3C8A6C-AA61-2928-6D17-9E7A8C4BB4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E23FBC-BEC7-48BE-DA42-A0EC42CEB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243C-9C36-CA68-E3D2-B5449A0C0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1F70B8-BA06-B92F-4398-122C1DDDC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4884710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3BAFB-08EB-C975-8E8A-255DF550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510668-BC41-4DB1-7E3E-D9E28C0656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83FD23-3E64-BC5C-734A-FA1EA38DE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69B5AB-384E-28EF-18A7-E104B8199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437AD-85F5-F06C-F4FF-86EF5F2B1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40065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12A20-FCC5-812F-AE61-4E1418DF5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DA010-A45D-0734-0450-38D8936202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8D2DB4-7644-FD89-B6B2-D754C66B9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53229E-1ADA-48A4-629F-5A96A57C0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EAFD00-E6FF-0602-6CC0-C5C87780F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60596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FDFF26-A662-5C39-950C-8A5D6EB9B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D5872-C5A8-E501-B2FA-13324FBDA5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31A59-CF91-AA0B-F96B-6C14E7CE3B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47A497-DE9B-A332-D860-AD288793A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21B6E0-7D3F-EC83-1436-125F826A3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88CC4D-EE9B-BE9C-D3B0-042089556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450992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B6ACA8-0D08-AC6A-B81F-35F873CF9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4BD75E-A0D0-3D52-642D-0F041EC619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D33259-2908-79D7-EFBC-A87039ED0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71E733-42C9-8CC1-782D-DBB966B6EE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E4180B-4638-2A1A-757C-680D2531A6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979168F-D7A7-14BA-969E-93A557673F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583D3E9-558C-DFE1-4A16-B17517213B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230436-F1DA-D960-32FA-A9F432D32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073302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3CF33-5E58-B917-D9CD-DA4734353E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72D51A-2FBB-D729-78A0-17484AF623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D7A3FF-E4AC-FDBB-10C8-386E9D169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6661E7A-E67D-B76A-7337-BCA252D406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6544444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600B424-0056-F493-065D-5F5D303D9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27C5DE-BBCC-F041-D1C4-5F1B5B701E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DAAC4-C628-B8C9-883B-726ACF68C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631411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BAAA3-1686-06DD-E7F0-E3CBC7FB7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E141D-FFCC-5C7D-3E74-A89357B283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CE8CF-2EE3-5A59-4436-3B3E829F72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D576AF-A1CD-5734-6723-82BEFA32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B32E45-92F9-3B74-2F99-2E9830198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F8B79-280A-53A4-81F1-8E517F9D9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3303182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8998D-3ABA-07B2-4FA1-7571A1473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A5BBBE-F5E6-B9E8-84E8-D58798B6734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9849A2-DD23-EF72-042E-09212E0ADF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1B2887-E73D-0970-D289-3D29A1FAC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98BBC-6A3D-51F2-F6F8-7026BE179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95D2FF-F189-A09F-2B97-113C05D66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0490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C595D-4012-D82D-3B75-22A3E2178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3DA92D-0B7C-13FA-58DC-59F5CFD30A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C2B144-8084-8753-F722-E41D6B3D1C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5A7D79-A4D7-0817-0C62-884235EA9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CB119-FFD6-9085-B850-EF95C0DDB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422337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030455F-23A4-5CE7-3F40-1B2D892467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DB895-F5D2-C754-5135-F9926D9055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61D1D8-14B5-B755-10D9-5614E3522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D67CC4-7AD4-F2B9-9382-C1B15DED6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08604C-45D7-9387-4DEC-EA89168AB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14030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2080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744F68E-30D9-B841-7FEB-99F2711F0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740D70-5E98-53FE-7671-73742735E7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3CA255-9F7F-A073-8013-07982B445B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5/7/2026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F4D15F-6BF1-E182-2C6A-64EDFD674B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8E7C05-684F-3AF4-0B54-8F1B5AD68A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1643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chart" Target="../charts/char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6573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</a:t>
            </a:r>
            <a:r>
              <a:rPr lang="en-US" sz="4000" b="1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Behaviour</a:t>
            </a:r>
            <a:r>
              <a:rPr lang="en-US" sz="4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1627632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4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891540" y="245745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data analytics case study using Python, PostgreSQL, and Power BI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017520"/>
            <a:ext cx="7772400" cy="0"/>
          </a:xfrm>
          <a:prstGeom prst="line">
            <a:avLst/>
          </a:prstGeom>
          <a:noFill/>
          <a:ln w="12700">
            <a:solidFill>
              <a:srgbClr val="1A56D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377440" y="3171825"/>
            <a:ext cx="1508760" cy="320040"/>
          </a:xfrm>
          <a:prstGeom prst="rect">
            <a:avLst/>
          </a:prstGeom>
          <a:solidFill>
            <a:srgbClr val="1A3A6E"/>
          </a:solidFill>
          <a:ln w="9525">
            <a:solidFill>
              <a:srgbClr val="3A70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377440" y="3171825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3171825"/>
            <a:ext cx="1508760" cy="320040"/>
          </a:xfrm>
          <a:prstGeom prst="rect">
            <a:avLst/>
          </a:prstGeom>
          <a:solidFill>
            <a:srgbClr val="1A3A6E"/>
          </a:solidFill>
          <a:ln w="9525">
            <a:solidFill>
              <a:srgbClr val="3A70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3171825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669280" y="3171825"/>
            <a:ext cx="1508760" cy="320040"/>
          </a:xfrm>
          <a:prstGeom prst="rect">
            <a:avLst/>
          </a:prstGeom>
          <a:solidFill>
            <a:srgbClr val="1A3A6E"/>
          </a:solidFill>
          <a:ln w="9525">
            <a:solidFill>
              <a:srgbClr val="3A70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0" y="3171825"/>
            <a:ext cx="1508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70916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kern="0" spc="2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PROJECT REPORT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19019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987552"/>
            <a:ext cx="54864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078992"/>
            <a:ext cx="1719072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" y="1491386"/>
            <a:ext cx="1719072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514600" y="987552"/>
            <a:ext cx="19019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87552"/>
            <a:ext cx="54864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24328" y="1078992"/>
            <a:ext cx="1719072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624328" y="1491386"/>
            <a:ext cx="1719072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(USD)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17720" y="987552"/>
            <a:ext cx="19019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987552"/>
            <a:ext cx="54864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27448" y="1078992"/>
            <a:ext cx="1719072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3.75/5.0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27448" y="1491386"/>
            <a:ext cx="1719072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720840" y="987552"/>
            <a:ext cx="1901952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20840" y="987552"/>
            <a:ext cx="54864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1078992"/>
            <a:ext cx="1719072" cy="451714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30568" y="1491386"/>
            <a:ext cx="1719072" cy="3300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SQL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11480" y="201168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THREE-PHASE ANALYTICAL PIPELINE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11480" y="2331720"/>
            <a:ext cx="2697480" cy="1417320"/>
          </a:xfrm>
          <a:prstGeom prst="rect">
            <a:avLst/>
          </a:prstGeom>
          <a:solidFill>
            <a:schemeClr val="accent1">
              <a:lumMod val="75000"/>
            </a:scheme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23957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48640" y="27249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8640" y="3017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ingestion, quality auditing, null imputation, feature engineering (age_group, purchase_frequency_days), SQLAlchemy load.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3264408" y="2331720"/>
            <a:ext cx="2697480" cy="141732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01568" y="23957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401568" y="27249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01568" y="3017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structured business queries using aggregations, correlated subqueries, CTEs, window functions, and conditional aggregation.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117336" y="2331720"/>
            <a:ext cx="2697480" cy="1417320"/>
          </a:xfrm>
          <a:prstGeom prst="rect">
            <a:avLst/>
          </a:prstGeom>
          <a:solidFill>
            <a:srgbClr val="4B93E3"/>
          </a:solidFill>
          <a:ln w="12700">
            <a:solidFill>
              <a:srgbClr val="3A70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2395728"/>
            <a:ext cx="548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254496" y="2724912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54496" y="3017520"/>
            <a:ext cx="24231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cards, 5 interactive charts, 4 cross-filter slicers — stakeholder-ready, no SQL/Python required.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6" name="Text 34"/>
          <p:cNvSpPr/>
          <p:nvPr/>
        </p:nvSpPr>
        <p:spPr>
          <a:xfrm>
            <a:off x="393192" y="395020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411480" y="4059936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gender revenue gap — Male $157,890 vs Female $75,191 — unexplained by category mix alone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repeat buyers (&gt;5 purchases) hold no subscription — 2,518 pre-qualified conversion leads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Near-50% discount rates on Hat, Sneakers, and Coat signal margin erosion risk requiring A/B testing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411480" y="3950208"/>
            <a:ext cx="8321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buSzPct val="100000"/>
            </a:pPr>
            <a:endParaRPr lang="en-US" sz="1000" dirty="0"/>
          </a:p>
          <a:p>
            <a:pPr marL="342900" indent="-342900">
              <a:buSzPct val="100000"/>
              <a:buChar char="•"/>
            </a:pP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Agenda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0698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0881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Objectives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1371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3,900+ records · 6 analytical dimensions · dual objectives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11480" y="1819656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1819656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1865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914400" y="1883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&amp; Data Preparation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167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audit · imputation · feature engineering · SQLAlchemy load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2615184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2615184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26609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914400" y="26791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Business Queries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14400" y="29626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· revenue, products, discounts, loyalty, shipping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11480" y="3410712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410712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4564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914400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Demographics Analysis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14400" y="3758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gap · subscription impact · age group contribution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4206240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4206240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42519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14400" y="427024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Discount Insights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914400" y="455371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Top-rated products · discount concentration · basket analysis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1024128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1024128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10328" y="106984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03520" y="108813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&amp; Segmentation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303520" y="137160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 loyal base · 72% unsubscribed repeat buyers · segments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800600" y="1819656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800600" y="1819656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910328" y="186537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303520" y="188366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03520" y="2167128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5 charts · 4 slicers · self-serve analytics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800600" y="2615184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800600" y="2615184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910328" y="2660904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303520" y="2679192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5303520" y="2962656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prioritised actions · HIGH / MEDIUM / LOW impact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800600" y="3410712"/>
            <a:ext cx="4114800" cy="68580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00600" y="3410712"/>
            <a:ext cx="54864" cy="6858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10328" y="345643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03520" y="3474720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Deliverables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5303520" y="3758184"/>
            <a:ext cx="3520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proficiency · project files · extensibility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Objectives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features · 3,900+ records · 6 analytical dimensions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772668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7726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 &amp; Feature Set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2103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097280"/>
            <a:ext cx="1920240" cy="4279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3,900+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" y="1483157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103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11480" y="2011680"/>
            <a:ext cx="54864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" y="2103120"/>
            <a:ext cx="1920240" cy="4279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1208" y="2488997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Columns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3017520"/>
            <a:ext cx="2103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11480" y="3017520"/>
            <a:ext cx="54864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3108960"/>
            <a:ext cx="1920240" cy="4279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21208" y="3494837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11480" y="4023360"/>
            <a:ext cx="21031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11480" y="4023360"/>
            <a:ext cx="54864" cy="8229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1208" y="4114800"/>
            <a:ext cx="1920240" cy="42793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21208" y="4500677"/>
            <a:ext cx="1920240" cy="31272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Null Column (review_rating)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2834640" y="987552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CATEGORIES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2834640" y="1280160"/>
            <a:ext cx="594360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1353312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Demographics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2971800" y="1618488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location, age_group (engineered)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2834640" y="2221992"/>
            <a:ext cx="5943600" cy="77724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971800" y="2295144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 Details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971800" y="256032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purchase_amount, payment_method, discount_applied, shipping_type, season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2834640" y="3163824"/>
            <a:ext cx="5943600" cy="77724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971800" y="3236976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Information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2971800" y="3502152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item_purchased, category, color, size, review_rating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834640" y="4105656"/>
            <a:ext cx="5943600" cy="77724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71800" y="4178808"/>
            <a:ext cx="5669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Behaviour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971800" y="4443984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subscription_status, previous_purchases, frequency_of_purchases, purchase_frequency_days (eng.)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11480" y="4846320"/>
            <a:ext cx="8321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promo_code_used dropped — 100% identical to discount_applied (confirmed via Boolean equality check).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 &amp; Data Preparation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· Cleaning · Feature Engineering · Database Load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EDA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Feature Engineering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05840"/>
            <a:ext cx="40233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05840"/>
            <a:ext cx="54864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078992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|  Initial Audit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1344168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df.info(), .describe() confirmed 3,900 × 18 shape. Only review_rating had nulls.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" y="1993392"/>
            <a:ext cx="40233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1993392"/>
            <a:ext cx="54864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06654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|  Null Imputation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331720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Category-median imputation on review_rating — preserves group-level distributions without distorting the overall mean.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980944"/>
            <a:ext cx="40233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80944"/>
            <a:ext cx="54864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05409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|  Column Standardisation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319272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headers lowercased, whitespace stripped, spaces → underscores. purchase_amount_(usd) renamed.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11480" y="3968496"/>
            <a:ext cx="4023360" cy="8229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968496"/>
            <a:ext cx="54864" cy="8229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4164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|  Redundant Feature Removal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306824"/>
            <a:ext cx="37490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promo_code_used confirmed 100% duplicate of discount_applied using .all() check. Dropped.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709160" y="98755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ENGINEERED FEATURES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4709160" y="1280160"/>
            <a:ext cx="4114800" cy="1508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13716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age_group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16916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pd.qcut(df['age'], q=4) — Quantile-based banding ensures equal-frequency groups, making inter-group comparisons statistically balanced.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846320" y="2240280"/>
            <a:ext cx="8686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5806440" y="2240280"/>
            <a:ext cx="8686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6766560" y="2240280"/>
            <a:ext cx="8686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76656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Middle-aged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726680" y="2240280"/>
            <a:ext cx="868680" cy="38404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26680" y="22402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709160" y="2880360"/>
            <a:ext cx="4114800" cy="184708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29718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purchase_frequency_days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4846320" y="32918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 categorical frequency labels to integer day counts, enabling numerical analysis and future predictive modelling.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846320" y="38145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→ 7d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135624" y="381457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Bi-Weekly → 14d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479792" y="380390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→ 30d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5166360" y="421690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→ 90d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981444" y="4203192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4E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Annually → 365d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388620" y="4841748"/>
            <a:ext cx="8321040" cy="22860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" y="4855464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Load → df.to_sql('customer', engine, if_exists='replace') via SQLAlchemy · Automated ETL ensures Python &amp; SQL layers are perfectly in sync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Business Querying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queries · 7 SQL techniques · pgAdmin 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161288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1612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ANALYSIS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Business Queries — Techniques &amp; Coverage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54864" cy="66751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0698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86968" y="10789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Gender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21208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GROUP BY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4754880" y="1024128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1024128"/>
            <a:ext cx="54864" cy="667512"/>
          </a:xfrm>
          <a:prstGeom prst="rect">
            <a:avLst/>
          </a:prstGeom>
          <a:solidFill>
            <a:srgbClr val="7B3FC4"/>
          </a:solidFill>
          <a:ln w="12700">
            <a:solidFill>
              <a:srgbClr val="7B3F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64608" y="1069848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30368" y="1078992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Discounters Above Avg Spend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864608" y="13716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Correlated Subquery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11480" y="1810512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" y="1810512"/>
            <a:ext cx="54864" cy="667512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1208" y="18562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86968" y="18653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Products by Rating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21208" y="2157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/ ORDER BY / LIMIT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754880" y="1810512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754880" y="1810512"/>
            <a:ext cx="54864" cy="667512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64608" y="1856232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230368" y="1865376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Shipping Type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64608" y="215798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 / AVG / WHERE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411480" y="2596896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11480" y="2596896"/>
            <a:ext cx="54864" cy="6675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21208" y="26426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86968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vs. Revenue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21208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 / SUM / AVG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54880" y="2596896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0" y="2596896"/>
            <a:ext cx="54864" cy="667512"/>
          </a:xfrm>
          <a:prstGeom prst="rect">
            <a:avLst/>
          </a:prstGeom>
          <a:solidFill>
            <a:srgbClr val="7B3FC4"/>
          </a:solidFill>
          <a:ln w="12700">
            <a:solidFill>
              <a:srgbClr val="7B3FC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64608" y="2642616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B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230368" y="2651760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Rate by Product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864608" y="294436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WHEN / Cond. Agg.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11480" y="3383280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11480" y="3383280"/>
            <a:ext cx="54864" cy="6675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1208" y="34290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886968" y="34381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Segmentation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21208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CASE WHEN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383280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383280"/>
            <a:ext cx="54864" cy="667512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64608" y="3429000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30368" y="3438144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Products per Category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64608" y="3730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CTE + ROW_NUMBER()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411480" y="4169664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11480" y="4169664"/>
            <a:ext cx="54864" cy="66751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21208" y="4215384"/>
            <a:ext cx="365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86968" y="42245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Buyers &amp; Subscriptions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1208" y="4517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/ GROUP BY / COUNT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4754880" y="4169664"/>
            <a:ext cx="4114800" cy="6675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754880" y="4169664"/>
            <a:ext cx="54864" cy="667512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864608" y="4215384"/>
            <a:ext cx="3992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Q10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230368" y="4224528"/>
            <a:ext cx="3520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4864608" y="451713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/ GROUP BY / ORDER BY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06908" y="4901184"/>
            <a:ext cx="109728" cy="10972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0644" y="4892040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1815084" y="4899660"/>
            <a:ext cx="109728" cy="109728"/>
          </a:xfrm>
          <a:prstGeom prst="rect">
            <a:avLst/>
          </a:prstGeom>
          <a:solidFill>
            <a:srgbClr val="7B3FC4"/>
          </a:solidFill>
          <a:ln w="12700">
            <a:solidFill>
              <a:srgbClr val="7B3FC4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984248" y="48813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3218688" y="4892040"/>
            <a:ext cx="109728" cy="109728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401568" y="4881372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800" dirty="0"/>
          </a:p>
        </p:txBody>
      </p:sp>
      <p:sp>
        <p:nvSpPr>
          <p:cNvPr id="63" name="Shape 61"/>
          <p:cNvSpPr/>
          <p:nvPr/>
        </p:nvSpPr>
        <p:spPr>
          <a:xfrm>
            <a:off x="4672584" y="4892040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18888" y="48722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6007608" y="4895088"/>
            <a:ext cx="109728" cy="1097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236208" y="48722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7417308" y="4901184"/>
            <a:ext cx="109728" cy="10972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653528" y="4872228"/>
            <a:ext cx="1188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Demographics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62763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REVENUE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96012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/>
        </p:nvGraphicFramePr>
        <p:xfrm>
          <a:off x="4663440" y="960120"/>
          <a:ext cx="4114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3429000"/>
            <a:ext cx="4023360" cy="15087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3429000"/>
            <a:ext cx="54864" cy="150876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4864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2" name="Text 8"/>
          <p:cNvSpPr/>
          <p:nvPr/>
        </p:nvSpPr>
        <p:spPr>
          <a:xfrm>
            <a:off x="548640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Gender Gap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3977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 ($157,890) is 2.1× female ($75,191). In clothing/accessories — where female demand typically exceeds male — this 52% revenue shortfall points to acquisition funnel underrepresentation or product-segment misalignment.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663440" y="3429000"/>
            <a:ext cx="4023360" cy="150876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663440" y="3429000"/>
            <a:ext cx="54864" cy="15087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800600" y="349300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750" dirty="0"/>
          </a:p>
        </p:txBody>
      </p:sp>
      <p:sp>
        <p:nvSpPr>
          <p:cNvPr id="17" name="Text 13"/>
          <p:cNvSpPr/>
          <p:nvPr/>
        </p:nvSpPr>
        <p:spPr>
          <a:xfrm>
            <a:off x="4800600" y="36758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800600" y="397764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generated $62,143 — the highest of four age bands. Notably all four groups fall within a $6,380 range, confirming broad cross-generational product appeal. Young Adult lead is notable given price-sensitivity of this cohort.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62763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LOYALTY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Impact Analysis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411480" y="960120"/>
          <a:ext cx="402336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4663440" y="960120"/>
            <a:ext cx="41148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63440" y="960120"/>
            <a:ext cx="54864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800600" y="10332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2,847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800600" y="1389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800600" y="157276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of customer base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4663440" y="2011680"/>
            <a:ext cx="41148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663440" y="2011680"/>
            <a:ext cx="54864" cy="868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800600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$0.38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4800600" y="24414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Difference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800600" y="26243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Subscribers vs Non-subscribers per transaction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663440" y="3063240"/>
            <a:ext cx="4114800" cy="86868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663440" y="3063240"/>
            <a:ext cx="54864" cy="86868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00600" y="313639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</a:t>
            </a:r>
            <a:endParaRPr lang="en-US" sz="2200" dirty="0"/>
          </a:p>
        </p:txBody>
      </p:sp>
      <p:sp>
        <p:nvSpPr>
          <p:cNvPr id="21" name="Text 18"/>
          <p:cNvSpPr/>
          <p:nvPr/>
        </p:nvSpPr>
        <p:spPr>
          <a:xfrm>
            <a:off x="4800600" y="349300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Non-Subscribers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800600" y="367588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of &gt;5-purchase customers hold no subscription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4663440" y="4160520"/>
            <a:ext cx="4114800" cy="777240"/>
          </a:xfrm>
          <a:prstGeom prst="rect">
            <a:avLst/>
          </a:prstGeom>
          <a:solidFill>
            <a:srgbClr val="FFF3CD">
              <a:alpha val="44000"/>
            </a:srgb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54880" y="422452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b="1" kern="0" spc="10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IMPLICATION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4754880" y="4425696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does not drive higher per-visit spend ($0.38 difference). Its value is retention &amp; frequency. Target the 2,518 pre-qualified repeat buyers with exclusive benefits (free shipping, early access, loyalty points).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411480" y="4160520"/>
            <a:ext cx="4023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Q9 Finding: Among customers with &gt;5 purchases, 72% (2,518) hold no subscription — the highest-priority conversion audience in the entire dataset.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2482596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24825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PRODUCT &amp; DISCOUNT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Performance &amp; Discount Analysis</a:t>
            </a:r>
            <a:endParaRPr lang="en-US" sz="2600" dirty="0"/>
          </a:p>
        </p:txBody>
      </p:sp>
      <p:graphicFrame>
        <p:nvGraphicFramePr>
          <p:cNvPr id="7" name="Chart 0"/>
          <p:cNvGraphicFramePr/>
          <p:nvPr>
            <p:extLst>
              <p:ext uri="{D42A27DB-BD31-4B8C-83A1-F6EECF244321}">
                <p14:modId xmlns:p14="http://schemas.microsoft.com/office/powerpoint/2010/main" val="1538303584"/>
              </p:ext>
            </p:extLst>
          </p:nvPr>
        </p:nvGraphicFramePr>
        <p:xfrm>
          <a:off x="411480" y="960120"/>
          <a:ext cx="402336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1"/>
          <p:cNvGraphicFramePr/>
          <p:nvPr>
            <p:extLst>
              <p:ext uri="{D42A27DB-BD31-4B8C-83A1-F6EECF244321}">
                <p14:modId xmlns:p14="http://schemas.microsoft.com/office/powerpoint/2010/main" val="2492446659"/>
              </p:ext>
            </p:extLst>
          </p:nvPr>
        </p:nvGraphicFramePr>
        <p:xfrm>
          <a:off x="4663440" y="960120"/>
          <a:ext cx="411480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Shape 5"/>
          <p:cNvSpPr/>
          <p:nvPr/>
        </p:nvSpPr>
        <p:spPr>
          <a:xfrm>
            <a:off x="411480" y="3291840"/>
            <a:ext cx="269748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11480" y="3291840"/>
            <a:ext cx="2697480" cy="54864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21208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A7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Leaders Are Accessories &amp; Footwear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521208" y="38130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rated items (Gloves 3.86, Sandals 3.84, Boots 3.82, Hat 3.80, Skirt 3.78) — narrow range signals consistently high satisfaction. Prioritise in homepage hero &amp; email campaigns.</a:t>
            </a:r>
            <a:endParaRPr lang="en-US" sz="850" dirty="0"/>
          </a:p>
        </p:txBody>
      </p:sp>
      <p:sp>
        <p:nvSpPr>
          <p:cNvPr id="13" name="Shape 9"/>
          <p:cNvSpPr/>
          <p:nvPr/>
        </p:nvSpPr>
        <p:spPr>
          <a:xfrm>
            <a:off x="3264408" y="3291840"/>
            <a:ext cx="269748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264408" y="3291840"/>
            <a:ext cx="2697480" cy="54864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374136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839 Discount Users Spent Above Average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3374136" y="38130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Q2: 839 customers applied a discount and still spent ≥ $59.76 (dataset average). Discounts function as conversion accelerators, not margin eroders — but near-50% rates on 5 SKUs need A/B testing.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6117336" y="3291840"/>
            <a:ext cx="2697480" cy="16459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117336" y="3291840"/>
            <a:ext cx="2697480" cy="54864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227064" y="3401568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Basket Expansion Opportunity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6227064" y="3813048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Q8: Jewelry (171 orders) leads Accessories; Blouse &amp; Pants (171 each) lead Clothing. Bundling high-volume accessories with top clothing items is an untested basket-expansion lever.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201625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20162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 · SEGMENTATION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Loyalty &amp; Segmentation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987552"/>
            <a:ext cx="2697480" cy="2011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0789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4864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3,116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4864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&gt; 10 purchases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987552"/>
            <a:ext cx="2697480" cy="20116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0789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29000" y="1417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18%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342900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2–10 purchases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72200" y="987552"/>
            <a:ext cx="2697480" cy="2011680"/>
          </a:xfrm>
          <a:prstGeom prst="rect">
            <a:avLst/>
          </a:prstGeom>
          <a:solidFill>
            <a:srgbClr val="3A70D4"/>
          </a:solidFill>
          <a:ln w="12700">
            <a:solidFill>
              <a:srgbClr val="3A70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9360" y="1078992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9360" y="1417320"/>
            <a:ext cx="24231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2%</a:t>
            </a:r>
            <a:endParaRPr lang="en-US" sz="4800" dirty="0"/>
          </a:p>
        </p:txBody>
      </p:sp>
      <p:sp>
        <p:nvSpPr>
          <p:cNvPr id="20" name="Text 18"/>
          <p:cNvSpPr/>
          <p:nvPr/>
        </p:nvSpPr>
        <p:spPr>
          <a:xfrm>
            <a:off x="6309360" y="1965960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309360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5D8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 ·  1 purchase only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3127248"/>
            <a:ext cx="4023360" cy="178308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127248"/>
            <a:ext cx="54864" cy="178308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21868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— Shipping Behaviour Insight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48640" y="3547872"/>
            <a:ext cx="3749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customers spend $2.02 more on average ($60.48 vs $58.46 Standard). This self-selection effect — willingness to pay for speed correlates with higher basket values — supports a checkout-stage upsell nudge offering Express shipping above a minimum basket threshold (e.g., 'Upgrade to Express for orders over $75').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663440" y="3127248"/>
            <a:ext cx="4114800" cy="1783080"/>
          </a:xfrm>
          <a:prstGeom prst="rect">
            <a:avLst/>
          </a:prstGeom>
          <a:solidFill>
            <a:schemeClr val="accent4">
              <a:lumMod val="20000"/>
              <a:lumOff val="80000"/>
              <a:alpha val="44000"/>
            </a:schemeClr>
          </a:solidFill>
          <a:ln w="9525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321868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kern="0" spc="150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RISK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754880" y="3493008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83 customers (2%) are classified as New. While a 79% Loyal base is commercially strong, extreme dependence on existing customers without new acquisition inflow creates long-term growth risk.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754880" y="42062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customer acquisition strategy is as critical as loyalty retention — the current base will naturally attrite without replenishment.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KPI Cards · 5 Charts · 4 Cross-Filter Slicers · Self-Serve Analytics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Architecture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521208" y="37947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Category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657600" y="3813048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0" y="38130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700" dirty="0"/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BD2623C1-947D-0F87-CC0F-D7D3F24F3D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347" t="10666" r="3539" b="8444"/>
          <a:stretch>
            <a:fillRect/>
          </a:stretch>
        </p:blipFill>
        <p:spPr>
          <a:xfrm>
            <a:off x="301751" y="914400"/>
            <a:ext cx="8339329" cy="4160520"/>
          </a:xfrm>
          <a:prstGeom prst="rect">
            <a:avLst/>
          </a:prstGeom>
          <a:solidFill>
            <a:schemeClr val="tx1"/>
          </a:solidFill>
          <a:effectLst>
            <a:softEdge rad="12700"/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2AB85C-DCC3-E2FE-09D0-C8FC0966DE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10">
            <a:extLst>
              <a:ext uri="{FF2B5EF4-FFF2-40B4-BE49-F238E27FC236}">
                <a16:creationId xmlns:a16="http://schemas.microsoft.com/office/drawing/2014/main" id="{9B5D0215-7AD6-8ECA-56A4-42CBEE17AB15}"/>
              </a:ext>
            </a:extLst>
          </p:cNvPr>
          <p:cNvSpPr/>
          <p:nvPr/>
        </p:nvSpPr>
        <p:spPr>
          <a:xfrm>
            <a:off x="2203704" y="4361688"/>
            <a:ext cx="4174236" cy="6522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1A7DCD34-A2FA-C956-A52A-682D899D2BF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419DF1C-85FB-F16E-6E4C-ED40F308F4FE}"/>
              </a:ext>
            </a:extLst>
          </p:cNvPr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A1B8417-84F1-9337-343A-F3AE2F54B138}"/>
              </a:ext>
            </a:extLst>
          </p:cNvPr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745BD9C-CA64-CEF8-4B64-A592D3C53CE0}"/>
              </a:ext>
            </a:extLst>
          </p:cNvPr>
          <p:cNvSpPr/>
          <p:nvPr/>
        </p:nvSpPr>
        <p:spPr>
          <a:xfrm>
            <a:off x="411480" y="164592"/>
            <a:ext cx="8503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75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F02B7A8E-0C3D-BD1D-21CD-B16B3366188D}"/>
              </a:ext>
            </a:extLst>
          </p:cNvPr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Architecture</a:t>
            </a:r>
            <a:endParaRPr lang="en-US" sz="2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58AFC00-F86C-86E1-DCD3-C3AF8E32D81F}"/>
              </a:ext>
            </a:extLst>
          </p:cNvPr>
          <p:cNvSpPr/>
          <p:nvPr/>
        </p:nvSpPr>
        <p:spPr>
          <a:xfrm>
            <a:off x="411480" y="10058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SUMMARY CARDS</a:t>
            </a:r>
            <a:endParaRPr lang="en-US" sz="85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6694C436-0C03-5C88-1C04-15492D324835}"/>
              </a:ext>
            </a:extLst>
          </p:cNvPr>
          <p:cNvSpPr/>
          <p:nvPr/>
        </p:nvSpPr>
        <p:spPr>
          <a:xfrm>
            <a:off x="411480" y="1234440"/>
            <a:ext cx="2606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1C3DF550-8C91-06D0-A0AE-2C54C5608F8C}"/>
              </a:ext>
            </a:extLst>
          </p:cNvPr>
          <p:cNvSpPr/>
          <p:nvPr/>
        </p:nvSpPr>
        <p:spPr>
          <a:xfrm>
            <a:off x="411480" y="1234440"/>
            <a:ext cx="54864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9511D40-FF53-2F59-9741-7133953AF9A7}"/>
              </a:ext>
            </a:extLst>
          </p:cNvPr>
          <p:cNvSpPr/>
          <p:nvPr/>
        </p:nvSpPr>
        <p:spPr>
          <a:xfrm>
            <a:off x="521208" y="1325880"/>
            <a:ext cx="242316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3.9K</a:t>
            </a:r>
            <a:endParaRPr lang="en-US" sz="22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A422B81-ED3B-3946-C766-EB16102741DA}"/>
              </a:ext>
            </a:extLst>
          </p:cNvPr>
          <p:cNvSpPr/>
          <p:nvPr/>
        </p:nvSpPr>
        <p:spPr>
          <a:xfrm>
            <a:off x="521208" y="1701150"/>
            <a:ext cx="2423160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Customers</a:t>
            </a:r>
            <a:endParaRPr lang="en-US" sz="85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3161832-6462-2E30-5DAC-6234D370C41F}"/>
              </a:ext>
            </a:extLst>
          </p:cNvPr>
          <p:cNvSpPr/>
          <p:nvPr/>
        </p:nvSpPr>
        <p:spPr>
          <a:xfrm>
            <a:off x="3291840" y="1234440"/>
            <a:ext cx="2606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1ABC6069-A70E-6398-F8B4-0A9BDB27C761}"/>
              </a:ext>
            </a:extLst>
          </p:cNvPr>
          <p:cNvSpPr/>
          <p:nvPr/>
        </p:nvSpPr>
        <p:spPr>
          <a:xfrm>
            <a:off x="3291840" y="1234440"/>
            <a:ext cx="54864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B163E742-96B5-4D8B-79CD-6ABB81351914}"/>
              </a:ext>
            </a:extLst>
          </p:cNvPr>
          <p:cNvSpPr/>
          <p:nvPr/>
        </p:nvSpPr>
        <p:spPr>
          <a:xfrm>
            <a:off x="3401568" y="1325880"/>
            <a:ext cx="242316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$59.76</a:t>
            </a:r>
            <a:endParaRPr lang="en-US" sz="2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33044486-B386-92D6-3DDD-426EABBA379F}"/>
              </a:ext>
            </a:extLst>
          </p:cNvPr>
          <p:cNvSpPr/>
          <p:nvPr/>
        </p:nvSpPr>
        <p:spPr>
          <a:xfrm>
            <a:off x="3401568" y="1701150"/>
            <a:ext cx="2423160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Purchase Amount</a:t>
            </a:r>
            <a:endParaRPr lang="en-US" sz="8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96B0F2F-A2EB-563E-5CE0-0229DBCC1F3F}"/>
              </a:ext>
            </a:extLst>
          </p:cNvPr>
          <p:cNvSpPr/>
          <p:nvPr/>
        </p:nvSpPr>
        <p:spPr>
          <a:xfrm>
            <a:off x="6172200" y="1234440"/>
            <a:ext cx="2606040" cy="804672"/>
          </a:xfrm>
          <a:prstGeom prst="rect">
            <a:avLst/>
          </a:prstGeom>
          <a:solidFill>
            <a:srgbClr val="FFFFFF"/>
          </a:solidFill>
          <a:ln w="9525">
            <a:solidFill>
              <a:srgbClr val="D9E4F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77E8AEC4-9898-FC67-6B5F-38961EAFBDBF}"/>
              </a:ext>
            </a:extLst>
          </p:cNvPr>
          <p:cNvSpPr/>
          <p:nvPr/>
        </p:nvSpPr>
        <p:spPr>
          <a:xfrm>
            <a:off x="6172200" y="1234440"/>
            <a:ext cx="54864" cy="804672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D93E150C-0B5A-0E1E-CD94-D591E4CF5153}"/>
              </a:ext>
            </a:extLst>
          </p:cNvPr>
          <p:cNvSpPr/>
          <p:nvPr/>
        </p:nvSpPr>
        <p:spPr>
          <a:xfrm>
            <a:off x="6281928" y="1325880"/>
            <a:ext cx="2423160" cy="418429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3.75</a:t>
            </a:r>
            <a:endParaRPr lang="en-US" sz="22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72B4A138-E343-61B9-40B1-EA22C95F0E50}"/>
              </a:ext>
            </a:extLst>
          </p:cNvPr>
          <p:cNvSpPr/>
          <p:nvPr/>
        </p:nvSpPr>
        <p:spPr>
          <a:xfrm>
            <a:off x="6281928" y="1701150"/>
            <a:ext cx="2423160" cy="30577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Review Rating (/ 5.0)</a:t>
            </a:r>
            <a:endParaRPr lang="en-US" sz="8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2C08DBE2-BC5A-5BC9-689A-CB5B66969157}"/>
              </a:ext>
            </a:extLst>
          </p:cNvPr>
          <p:cNvSpPr/>
          <p:nvPr/>
        </p:nvSpPr>
        <p:spPr>
          <a:xfrm>
            <a:off x="411480" y="217627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 COMPONENTS</a:t>
            </a:r>
            <a:endParaRPr lang="en-US" sz="85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F3BD931-5591-55AF-03C0-88C6D754F59E}"/>
              </a:ext>
            </a:extLst>
          </p:cNvPr>
          <p:cNvSpPr/>
          <p:nvPr/>
        </p:nvSpPr>
        <p:spPr>
          <a:xfrm>
            <a:off x="411480" y="2423160"/>
            <a:ext cx="4114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4DB49E8-52D4-E65C-B38D-B82CF3037817}"/>
              </a:ext>
            </a:extLst>
          </p:cNvPr>
          <p:cNvSpPr/>
          <p:nvPr/>
        </p:nvSpPr>
        <p:spPr>
          <a:xfrm>
            <a:off x="411480" y="2423160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563376F5-0781-957F-073D-9719E225500D}"/>
              </a:ext>
            </a:extLst>
          </p:cNvPr>
          <p:cNvSpPr/>
          <p:nvPr/>
        </p:nvSpPr>
        <p:spPr>
          <a:xfrm>
            <a:off x="521208" y="24780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 Split</a:t>
            </a:r>
            <a:endParaRPr lang="en-US" sz="10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F3B32E40-8D14-8EDE-7322-BC7DAD64C506}"/>
              </a:ext>
            </a:extLst>
          </p:cNvPr>
          <p:cNvSpPr/>
          <p:nvPr/>
        </p:nvSpPr>
        <p:spPr>
          <a:xfrm>
            <a:off x="3657600" y="2496312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FEEA3B2F-06C0-7156-D657-36751C2A886A}"/>
              </a:ext>
            </a:extLst>
          </p:cNvPr>
          <p:cNvSpPr/>
          <p:nvPr/>
        </p:nvSpPr>
        <p:spPr>
          <a:xfrm>
            <a:off x="3657600" y="2496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Doughnut Chart</a:t>
            </a:r>
            <a:endParaRPr lang="en-US" sz="7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BF6C73FC-7CED-A116-03B3-F8D166F464D1}"/>
              </a:ext>
            </a:extLst>
          </p:cNvPr>
          <p:cNvSpPr/>
          <p:nvPr/>
        </p:nvSpPr>
        <p:spPr>
          <a:xfrm>
            <a:off x="521208" y="2724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non-subscriber vs 27% subscriber — loyalty penetration gap</a:t>
            </a:r>
            <a:endParaRPr lang="en-US" sz="850" dirty="0"/>
          </a:p>
        </p:txBody>
      </p:sp>
      <p:sp>
        <p:nvSpPr>
          <p:cNvPr id="27" name="Shape 25">
            <a:extLst>
              <a:ext uri="{FF2B5EF4-FFF2-40B4-BE49-F238E27FC236}">
                <a16:creationId xmlns:a16="http://schemas.microsoft.com/office/drawing/2014/main" id="{29D80AE7-7BB1-83C1-ABD8-4DBDEDC541A8}"/>
              </a:ext>
            </a:extLst>
          </p:cNvPr>
          <p:cNvSpPr/>
          <p:nvPr/>
        </p:nvSpPr>
        <p:spPr>
          <a:xfrm>
            <a:off x="411480" y="3081528"/>
            <a:ext cx="4114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8" name="Shape 26">
            <a:extLst>
              <a:ext uri="{FF2B5EF4-FFF2-40B4-BE49-F238E27FC236}">
                <a16:creationId xmlns:a16="http://schemas.microsoft.com/office/drawing/2014/main" id="{D59C81E2-C011-7596-8A1E-8934DC4ED727}"/>
              </a:ext>
            </a:extLst>
          </p:cNvPr>
          <p:cNvSpPr/>
          <p:nvPr/>
        </p:nvSpPr>
        <p:spPr>
          <a:xfrm>
            <a:off x="411480" y="3081528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9" name="Text 27">
            <a:extLst>
              <a:ext uri="{FF2B5EF4-FFF2-40B4-BE49-F238E27FC236}">
                <a16:creationId xmlns:a16="http://schemas.microsoft.com/office/drawing/2014/main" id="{A5D95422-8EEF-1909-182B-564B50392E3A}"/>
              </a:ext>
            </a:extLst>
          </p:cNvPr>
          <p:cNvSpPr/>
          <p:nvPr/>
        </p:nvSpPr>
        <p:spPr>
          <a:xfrm>
            <a:off x="521208" y="31363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</a:t>
            </a:r>
            <a:endParaRPr lang="en-US" sz="1000" dirty="0"/>
          </a:p>
        </p:txBody>
      </p:sp>
      <p:sp>
        <p:nvSpPr>
          <p:cNvPr id="30" name="Shape 28">
            <a:extLst>
              <a:ext uri="{FF2B5EF4-FFF2-40B4-BE49-F238E27FC236}">
                <a16:creationId xmlns:a16="http://schemas.microsoft.com/office/drawing/2014/main" id="{3804F132-B828-D4F2-BB7B-A8BCBE747D20}"/>
              </a:ext>
            </a:extLst>
          </p:cNvPr>
          <p:cNvSpPr/>
          <p:nvPr/>
        </p:nvSpPr>
        <p:spPr>
          <a:xfrm>
            <a:off x="3657600" y="3154680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86590A3E-8916-45BB-A47D-4E3855C9E19E}"/>
              </a:ext>
            </a:extLst>
          </p:cNvPr>
          <p:cNvSpPr/>
          <p:nvPr/>
        </p:nvSpPr>
        <p:spPr>
          <a:xfrm>
            <a:off x="3657600" y="3154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</a:t>
            </a:r>
            <a:endParaRPr lang="en-US" sz="700" dirty="0"/>
          </a:p>
        </p:txBody>
      </p:sp>
      <p:sp>
        <p:nvSpPr>
          <p:cNvPr id="32" name="Text 30">
            <a:extLst>
              <a:ext uri="{FF2B5EF4-FFF2-40B4-BE49-F238E27FC236}">
                <a16:creationId xmlns:a16="http://schemas.microsoft.com/office/drawing/2014/main" id="{7FFD5807-30AB-2D2A-A90A-5D6792DB56C0}"/>
              </a:ext>
            </a:extLst>
          </p:cNvPr>
          <p:cNvSpPr/>
          <p:nvPr/>
        </p:nvSpPr>
        <p:spPr>
          <a:xfrm>
            <a:off x="521208" y="33832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Clothing leads; Outerwear trails — guides category investment</a:t>
            </a:r>
            <a:endParaRPr lang="en-US" sz="850" dirty="0"/>
          </a:p>
        </p:txBody>
      </p:sp>
      <p:sp>
        <p:nvSpPr>
          <p:cNvPr id="33" name="Shape 31">
            <a:extLst>
              <a:ext uri="{FF2B5EF4-FFF2-40B4-BE49-F238E27FC236}">
                <a16:creationId xmlns:a16="http://schemas.microsoft.com/office/drawing/2014/main" id="{8195059A-4B16-DEFD-DDE2-65258E4EBB5B}"/>
              </a:ext>
            </a:extLst>
          </p:cNvPr>
          <p:cNvSpPr/>
          <p:nvPr/>
        </p:nvSpPr>
        <p:spPr>
          <a:xfrm>
            <a:off x="411480" y="3739896"/>
            <a:ext cx="4114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4" name="Shape 32">
            <a:extLst>
              <a:ext uri="{FF2B5EF4-FFF2-40B4-BE49-F238E27FC236}">
                <a16:creationId xmlns:a16="http://schemas.microsoft.com/office/drawing/2014/main" id="{B2146458-8C2C-8CD3-F61A-A8B7D1C1D7BA}"/>
              </a:ext>
            </a:extLst>
          </p:cNvPr>
          <p:cNvSpPr/>
          <p:nvPr/>
        </p:nvSpPr>
        <p:spPr>
          <a:xfrm>
            <a:off x="411480" y="3739896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5" name="Text 33">
            <a:extLst>
              <a:ext uri="{FF2B5EF4-FFF2-40B4-BE49-F238E27FC236}">
                <a16:creationId xmlns:a16="http://schemas.microsoft.com/office/drawing/2014/main" id="{2A02477D-2D84-32EB-941F-45A4D137AA3F}"/>
              </a:ext>
            </a:extLst>
          </p:cNvPr>
          <p:cNvSpPr/>
          <p:nvPr/>
        </p:nvSpPr>
        <p:spPr>
          <a:xfrm>
            <a:off x="521208" y="3794760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Category</a:t>
            </a:r>
            <a:endParaRPr lang="en-US" sz="1000" dirty="0"/>
          </a:p>
        </p:txBody>
      </p:sp>
      <p:sp>
        <p:nvSpPr>
          <p:cNvPr id="36" name="Shape 34">
            <a:extLst>
              <a:ext uri="{FF2B5EF4-FFF2-40B4-BE49-F238E27FC236}">
                <a16:creationId xmlns:a16="http://schemas.microsoft.com/office/drawing/2014/main" id="{43F61AFB-99C0-2B02-5EE5-008F4A6A7AAC}"/>
              </a:ext>
            </a:extLst>
          </p:cNvPr>
          <p:cNvSpPr/>
          <p:nvPr/>
        </p:nvSpPr>
        <p:spPr>
          <a:xfrm>
            <a:off x="3657600" y="3813048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37" name="Text 35">
            <a:extLst>
              <a:ext uri="{FF2B5EF4-FFF2-40B4-BE49-F238E27FC236}">
                <a16:creationId xmlns:a16="http://schemas.microsoft.com/office/drawing/2014/main" id="{B2E00385-E737-E8B5-6564-90A7BE851653}"/>
              </a:ext>
            </a:extLst>
          </p:cNvPr>
          <p:cNvSpPr/>
          <p:nvPr/>
        </p:nvSpPr>
        <p:spPr>
          <a:xfrm>
            <a:off x="3657600" y="3813048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Bar</a:t>
            </a:r>
            <a:endParaRPr lang="en-US" sz="700" dirty="0"/>
          </a:p>
        </p:txBody>
      </p:sp>
      <p:sp>
        <p:nvSpPr>
          <p:cNvPr id="38" name="Text 36">
            <a:extLst>
              <a:ext uri="{FF2B5EF4-FFF2-40B4-BE49-F238E27FC236}">
                <a16:creationId xmlns:a16="http://schemas.microsoft.com/office/drawing/2014/main" id="{B96427E3-3AC9-98DF-E9E7-4CB49A141284}"/>
              </a:ext>
            </a:extLst>
          </p:cNvPr>
          <p:cNvSpPr/>
          <p:nvPr/>
        </p:nvSpPr>
        <p:spPr>
          <a:xfrm>
            <a:off x="521208" y="4041648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demand concentration; consistent with revenue ranking</a:t>
            </a:r>
            <a:endParaRPr lang="en-US" sz="850" dirty="0"/>
          </a:p>
        </p:txBody>
      </p:sp>
      <p:sp>
        <p:nvSpPr>
          <p:cNvPr id="39" name="Shape 37">
            <a:extLst>
              <a:ext uri="{FF2B5EF4-FFF2-40B4-BE49-F238E27FC236}">
                <a16:creationId xmlns:a16="http://schemas.microsoft.com/office/drawing/2014/main" id="{C182BA7B-5045-D767-A710-9FC170F454A6}"/>
              </a:ext>
            </a:extLst>
          </p:cNvPr>
          <p:cNvSpPr/>
          <p:nvPr/>
        </p:nvSpPr>
        <p:spPr>
          <a:xfrm>
            <a:off x="4754880" y="2423160"/>
            <a:ext cx="4114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0" name="Shape 38">
            <a:extLst>
              <a:ext uri="{FF2B5EF4-FFF2-40B4-BE49-F238E27FC236}">
                <a16:creationId xmlns:a16="http://schemas.microsoft.com/office/drawing/2014/main" id="{4728DB9A-2DC6-D681-E494-A313BB9C24F6}"/>
              </a:ext>
            </a:extLst>
          </p:cNvPr>
          <p:cNvSpPr/>
          <p:nvPr/>
        </p:nvSpPr>
        <p:spPr>
          <a:xfrm>
            <a:off x="4754880" y="2423160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1" name="Text 39">
            <a:extLst>
              <a:ext uri="{FF2B5EF4-FFF2-40B4-BE49-F238E27FC236}">
                <a16:creationId xmlns:a16="http://schemas.microsoft.com/office/drawing/2014/main" id="{4F667027-ABBB-EE30-5AEF-6B5A11738A16}"/>
              </a:ext>
            </a:extLst>
          </p:cNvPr>
          <p:cNvSpPr/>
          <p:nvPr/>
        </p:nvSpPr>
        <p:spPr>
          <a:xfrm>
            <a:off x="4864608" y="2478024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Age Group</a:t>
            </a:r>
            <a:endParaRPr lang="en-US" sz="1000" dirty="0"/>
          </a:p>
        </p:txBody>
      </p:sp>
      <p:sp>
        <p:nvSpPr>
          <p:cNvPr id="42" name="Shape 40">
            <a:extLst>
              <a:ext uri="{FF2B5EF4-FFF2-40B4-BE49-F238E27FC236}">
                <a16:creationId xmlns:a16="http://schemas.microsoft.com/office/drawing/2014/main" id="{52CDCE47-7E9D-67F6-41AF-54CFB9290525}"/>
              </a:ext>
            </a:extLst>
          </p:cNvPr>
          <p:cNvSpPr/>
          <p:nvPr/>
        </p:nvSpPr>
        <p:spPr>
          <a:xfrm>
            <a:off x="8001000" y="2496312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E8EDC66B-02C1-F632-D676-90A32E77E426}"/>
              </a:ext>
            </a:extLst>
          </p:cNvPr>
          <p:cNvSpPr/>
          <p:nvPr/>
        </p:nvSpPr>
        <p:spPr>
          <a:xfrm>
            <a:off x="8001000" y="2496312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700" dirty="0"/>
          </a:p>
        </p:txBody>
      </p:sp>
      <p:sp>
        <p:nvSpPr>
          <p:cNvPr id="44" name="Text 42">
            <a:extLst>
              <a:ext uri="{FF2B5EF4-FFF2-40B4-BE49-F238E27FC236}">
                <a16:creationId xmlns:a16="http://schemas.microsoft.com/office/drawing/2014/main" id="{CC5B7ADD-6067-A88D-BD02-247069DAE4AB}"/>
              </a:ext>
            </a:extLst>
          </p:cNvPr>
          <p:cNvSpPr/>
          <p:nvPr/>
        </p:nvSpPr>
        <p:spPr>
          <a:xfrm>
            <a:off x="4864608" y="2724912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($62K); all groups within $6.4K range</a:t>
            </a:r>
            <a:endParaRPr lang="en-US" sz="850" dirty="0"/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0E2FC11C-3EEC-0DFD-C3E5-80D2DD93A02C}"/>
              </a:ext>
            </a:extLst>
          </p:cNvPr>
          <p:cNvSpPr/>
          <p:nvPr/>
        </p:nvSpPr>
        <p:spPr>
          <a:xfrm>
            <a:off x="4754880" y="3081528"/>
            <a:ext cx="4114800" cy="566928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C2D5D0E2-F20A-9915-A0F1-0DE1BA46E785}"/>
              </a:ext>
            </a:extLst>
          </p:cNvPr>
          <p:cNvSpPr/>
          <p:nvPr/>
        </p:nvSpPr>
        <p:spPr>
          <a:xfrm>
            <a:off x="4754880" y="3081528"/>
            <a:ext cx="54864" cy="566928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1C00BC70-CBE5-34F9-A606-B5B5EF589B60}"/>
              </a:ext>
            </a:extLst>
          </p:cNvPr>
          <p:cNvSpPr/>
          <p:nvPr/>
        </p:nvSpPr>
        <p:spPr>
          <a:xfrm>
            <a:off x="4864608" y="3136392"/>
            <a:ext cx="3108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Volume by Age Group</a:t>
            </a:r>
            <a:endParaRPr lang="en-US" sz="1000" dirty="0"/>
          </a:p>
        </p:txBody>
      </p:sp>
      <p:sp>
        <p:nvSpPr>
          <p:cNvPr id="48" name="Shape 46">
            <a:extLst>
              <a:ext uri="{FF2B5EF4-FFF2-40B4-BE49-F238E27FC236}">
                <a16:creationId xmlns:a16="http://schemas.microsoft.com/office/drawing/2014/main" id="{A74A4B2D-B19B-BF05-FF6E-C7BBD53A58F2}"/>
              </a:ext>
            </a:extLst>
          </p:cNvPr>
          <p:cNvSpPr/>
          <p:nvPr/>
        </p:nvSpPr>
        <p:spPr>
          <a:xfrm>
            <a:off x="8001000" y="3154680"/>
            <a:ext cx="777240" cy="182880"/>
          </a:xfrm>
          <a:prstGeom prst="rect">
            <a:avLst/>
          </a:prstGeom>
          <a:solidFill>
            <a:srgbClr val="EBF2FF"/>
          </a:solidFill>
          <a:ln w="3810">
            <a:solidFill>
              <a:srgbClr val="D9E4F0"/>
            </a:solidFill>
            <a:prstDash val="solid"/>
          </a:ln>
        </p:spPr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F0F2AD3A-BCFC-D238-72DA-0E0056E5CFC1}"/>
              </a:ext>
            </a:extLst>
          </p:cNvPr>
          <p:cNvSpPr/>
          <p:nvPr/>
        </p:nvSpPr>
        <p:spPr>
          <a:xfrm>
            <a:off x="8001000" y="3154680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</a:t>
            </a:r>
            <a:endParaRPr lang="en-US" sz="7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EE15D0E0-5504-D385-5EBA-54134CEB921C}"/>
              </a:ext>
            </a:extLst>
          </p:cNvPr>
          <p:cNvSpPr/>
          <p:nvPr/>
        </p:nvSpPr>
        <p:spPr>
          <a:xfrm>
            <a:off x="4864608" y="3383280"/>
            <a:ext cx="3840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lead order count; Senior slightly below Adult</a:t>
            </a:r>
            <a:endParaRPr lang="en-US" sz="850" dirty="0"/>
          </a:p>
        </p:txBody>
      </p:sp>
      <p:sp>
        <p:nvSpPr>
          <p:cNvPr id="51" name="Text 49">
            <a:extLst>
              <a:ext uri="{FF2B5EF4-FFF2-40B4-BE49-F238E27FC236}">
                <a16:creationId xmlns:a16="http://schemas.microsoft.com/office/drawing/2014/main" id="{C0C7E79C-536B-C58E-0009-2F49169CA413}"/>
              </a:ext>
            </a:extLst>
          </p:cNvPr>
          <p:cNvSpPr/>
          <p:nvPr/>
        </p:nvSpPr>
        <p:spPr>
          <a:xfrm>
            <a:off x="2377440" y="4507992"/>
            <a:ext cx="1767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SLICERS</a:t>
            </a:r>
            <a:endParaRPr lang="en-US" sz="850" dirty="0"/>
          </a:p>
        </p:txBody>
      </p:sp>
      <p:sp>
        <p:nvSpPr>
          <p:cNvPr id="52" name="Text 50">
            <a:extLst>
              <a:ext uri="{FF2B5EF4-FFF2-40B4-BE49-F238E27FC236}">
                <a16:creationId xmlns:a16="http://schemas.microsoft.com/office/drawing/2014/main" id="{A1C51A88-B289-47D8-BC37-264DB36D4323}"/>
              </a:ext>
            </a:extLst>
          </p:cNvPr>
          <p:cNvSpPr/>
          <p:nvPr/>
        </p:nvSpPr>
        <p:spPr>
          <a:xfrm>
            <a:off x="4145280" y="44196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Subscription Status (Yes/No)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(Female/Male)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(4 options)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Type (6 options)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4240679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Recommendations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Prioritised Actions Directly Traceable to Query Outputs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394460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3944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Data-Backed Business Recommendations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02412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024128"/>
            <a:ext cx="54864" cy="1188720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115568"/>
            <a:ext cx="502920" cy="20116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1208" y="11155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69848" y="11155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Loyalty → Subscription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21208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72% of &gt;5-purchase customers (2,518) are non-subscribers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21208" y="16824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subscription conversion campaign with exclusive benefits: free shipping thresholds, early sale access, loyalty points.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35000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350008"/>
            <a:ext cx="54864" cy="1188720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1208" y="2441448"/>
            <a:ext cx="502920" cy="201168"/>
          </a:xfrm>
          <a:prstGeom prst="rect">
            <a:avLst/>
          </a:prstGeom>
          <a:solidFill>
            <a:srgbClr val="C41E3A"/>
          </a:solidFill>
          <a:ln w="12700">
            <a:solidFill>
              <a:srgbClr val="C41E3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" y="2441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1069848" y="244144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Discount Optimisation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1208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Hat (50%), Sneakers &amp; Coat (49%) carry near-50% discount rates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521208" y="30083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A/B test reduced discount depths on top-frequency items. Monitor conversion rate at 20%, 30%, and current levels.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67588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675888"/>
            <a:ext cx="54864" cy="118872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1208" y="3767328"/>
            <a:ext cx="50292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1208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1069848" y="376732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Female Acquisition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21208" y="4041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Female revenue ($75,191) is 52% lower than male ($157,890)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21208" y="43342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gender-targeted digital campaigns, female-skewed influencer partnerships, and personalised recommendation engines.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4754880" y="102412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754880" y="1024128"/>
            <a:ext cx="54864" cy="1188720"/>
          </a:xfrm>
          <a:prstGeom prst="rect">
            <a:avLst/>
          </a:prstGeom>
          <a:solidFill>
            <a:srgbClr val="3A70D4"/>
          </a:solidFill>
          <a:ln w="12700">
            <a:solidFill>
              <a:srgbClr val="3A70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64608" y="1115568"/>
            <a:ext cx="502920" cy="20116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64608" y="111556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13248" y="111556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  Young Adult Retention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64608" y="138988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Young Adults are the top revenue-generating segment at $62,143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4864608" y="168249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retention via mobile-first UX, early access to sale events, and personalised re-engagement journeys.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754880" y="235000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54880" y="2350008"/>
            <a:ext cx="54864" cy="118872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64608" y="2441448"/>
            <a:ext cx="502920" cy="201168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64608" y="244144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413248" y="244144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 Express Shipping Upsell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864608" y="271576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Express buyers spend $2.02 more on average than Standard buyers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4864608" y="300837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checkout-stage upsell nudge tied to minimum basket value (e.g., 'Upgrade to Express for orders over $75').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54880" y="3675888"/>
            <a:ext cx="4114800" cy="1188720"/>
          </a:xfrm>
          <a:prstGeom prst="rect">
            <a:avLst/>
          </a:prstGeom>
          <a:solidFill>
            <a:srgbClr val="F7F9FC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754880" y="3675888"/>
            <a:ext cx="54864" cy="1188720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64608" y="3767328"/>
            <a:ext cx="502920" cy="201168"/>
          </a:xfrm>
          <a:prstGeom prst="rect">
            <a:avLst/>
          </a:prstGeom>
          <a:solidFill>
            <a:srgbClr val="0A7A5A"/>
          </a:solidFill>
          <a:ln w="12700">
            <a:solidFill>
              <a:srgbClr val="0A7A5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64608" y="3767328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5413248" y="3767328"/>
            <a:ext cx="3337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  Top-Rated Amplification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864608" y="40416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Finding: Gloves (3.86), Sandals (3.84), Boots (3.82) lead on review rating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4864608" y="4334256"/>
            <a:ext cx="3840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in homepage hero sections, email headers, and as anchor items in cross-category product bundles.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41148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0116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487168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Project Deliverables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324612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EB4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Analytical Pipeline · Reproducible · Extensible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3657600" cy="0"/>
          </a:xfrm>
          <a:prstGeom prst="line">
            <a:avLst/>
          </a:prstGeom>
          <a:noFill/>
          <a:ln w="1905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03920" y="4892040"/>
            <a:ext cx="457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6459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11480" y="34747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Project Deliverables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02412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MOST COMMERCIALLY SIGNIFICANT FINDINGS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2697480" cy="137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1208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208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72% Repeat Buyers Are Non-Subscribers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21208" y="20574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2,518 pre-qualified, high-intent customers have demonstrated loyalty without any subscription incentive — the highest-ROI conversion target in the dataset.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64408" y="1280160"/>
            <a:ext cx="2697480" cy="137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74136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41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74136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2.1× Unexplained Gender Revenue Gap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374136" y="20574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($157,890) vs Female ($75,191) in a product mix where female demand typically dominates — signals acquisition funnel or personalisation failure.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17336" y="1280160"/>
            <a:ext cx="2697480" cy="13716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27064" y="1344168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27064" y="1664208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Near-50% Discount Rates on 5 Major SKUs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6227064" y="2057400"/>
            <a:ext cx="2468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Sneakers, Coat, Sweater, and Pants each show 47–50% discount rates. Full-price purchasing is no longer the norm — margin erosion risk is immediate.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1480" y="27889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PROFICIENCY DEMONSTRATED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11480" y="3035808"/>
            <a:ext cx="2697480" cy="73152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 · SQLAlchemy · pd.qcut · group-median imputation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64408" y="3035808"/>
            <a:ext cx="2697480" cy="73152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74136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374136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· Correlated Subqueries · CTEs · Window Functions · Conditional Aggregation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6117336" y="3035808"/>
            <a:ext cx="2697480" cy="731520"/>
          </a:xfrm>
          <a:prstGeom prst="rect">
            <a:avLst/>
          </a:prstGeom>
          <a:solidFill>
            <a:srgbClr val="EBF2FF"/>
          </a:solidFill>
          <a:ln w="6350">
            <a:solidFill>
              <a:srgbClr val="D9E4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227064" y="3108960"/>
            <a:ext cx="2468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27064" y="336499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Cards · Multi-chart Dashboards · Cross-filter Slicers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11480" y="38587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8896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DELIVERABLES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11480" y="390448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.ipynb  Python Notebook — EDA, cleaning, feature engineering, SQLAlchemy load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.sql     PostgreSQL Script — 10 annotated business queries with full output comments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.pbix   Power BI Dashboard — Interactive KPIs, 5 charts, 4 cross-filter slicers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.docx  Project Report — Full methodology, findings, recommendations, and tables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214884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Shopping Behaviour Analysis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3657600" cy="0"/>
          </a:xfrm>
          <a:prstGeom prst="line">
            <a:avLst/>
          </a:prstGeom>
          <a:noFill/>
          <a:ln w="12700">
            <a:solidFill>
              <a:srgbClr val="1A56D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Words>2001</Words>
  <Application>Microsoft Office PowerPoint</Application>
  <PresentationFormat>On-screen Show (16:9)</PresentationFormat>
  <Paragraphs>345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Consumer Shopping Behaviour Analysis</dc:title>
  <dc:subject>PptxGenJS Presentation</dc:subject>
  <dc:creator>Data Analytics Project</dc:creator>
  <cp:lastModifiedBy>SUKANYA MUKHERJEE</cp:lastModifiedBy>
  <cp:revision>3</cp:revision>
  <dcterms:created xsi:type="dcterms:W3CDTF">2026-05-06T19:41:43Z</dcterms:created>
  <dcterms:modified xsi:type="dcterms:W3CDTF">2026-05-06T21:14:40Z</dcterms:modified>
</cp:coreProperties>
</file>